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B2B3C"/>
          </a:solidFill>
          <a:ln w="25400"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400" b="1">
                <a:solidFill>
                  <a:srgbClr val="FF6B5B"/>
                </a:solidFill>
              </a:defRPr>
            </a:pPr>
            <a:r>
              <a:t>RETAILHUB E-COMMERCE TELEMETRY</a:t>
            </a:r>
          </a:p>
          <a:p>
            <a:pPr algn="ctr">
              <a:spcAft>
                <a:spcPts val="1500"/>
              </a:spcAft>
              <a:defRPr sz="5600" b="1">
                <a:solidFill>
                  <a:srgbClr val="FFFFFF"/>
                </a:solidFill>
              </a:defRPr>
            </a:pPr>
            <a:r>
              <a:t>NEXDAY</a:t>
            </a:r>
          </a:p>
          <a:p>
            <a:pPr algn="ctr">
              <a:spcAft>
                <a:spcPts val="3500"/>
              </a:spcAft>
              <a:defRPr sz="2400" b="1">
                <a:solidFill>
                  <a:srgbClr val="FFB020"/>
                </a:solidFill>
              </a:defRPr>
            </a:pPr>
            <a:r>
              <a:t>Brand New Day, Brand New Products</a:t>
            </a:r>
          </a:p>
          <a:p>
            <a:pPr algn="ctr">
              <a:defRPr sz="1600" b="1">
                <a:solidFill>
                  <a:srgbClr val="38E6C5"/>
                </a:solidFill>
              </a:defRPr>
            </a:pPr>
            <a:r>
              <a:t>Presenters: MANISH  •  ASHWIN  •  NAVEEN  •  PRITHVISH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0B2337"/>
          </a:solidFill>
          <a:ln w="19050"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0"/>
              </a:spcAft>
              <a:defRPr sz="4600" b="1">
                <a:solidFill>
                  <a:srgbClr val="38E6C5"/>
                </a:solidFill>
              </a:defRPr>
            </a:pPr>
            <a:r>
              <a:t>MANISH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FFB020"/>
                </a:solidFill>
              </a:defRPr>
            </a:pPr>
            <a:r>
              <a:t>Introduction &amp; Business Problem Statement</a:t>
            </a:r>
          </a:p>
          <a:p>
            <a:pPr algn="ctr">
              <a:defRPr sz="1500">
                <a:solidFill>
                  <a:srgbClr val="E2E8F0"/>
                </a:solidFill>
              </a:defRPr>
            </a:pPr>
            <a:r>
              <a:t>Walmart-Inspired Retail Telemetry • Decoupled OLTP/OLAP • Real-Time Fraud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E6C5"/>
                </a:solidFill>
                <a:latin typeface="Arial"/>
              </a:defRPr>
            </a:pPr>
            <a:r>
              <a:t>Project Context &amp; Business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468880" cy="411480"/>
          </a:xfrm>
          <a:prstGeom prst="roundRect">
            <a:avLst/>
          </a:prstGeom>
          <a:solidFill>
            <a:srgbClr val="231E14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020"/>
                </a:solidFill>
                <a:latin typeface="Arial"/>
              </a:defRPr>
            </a:pPr>
            <a:r>
              <a:t>MANISH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18288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AEC0"/>
                </a:solidFill>
                <a:latin typeface="Arial"/>
              </a:defRPr>
            </a:pPr>
            <a:r>
              <a:t>NEXDAY: BRAND NEW DAY, BRAND NEW PRODUCTS — DATA LAKEHOUSE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The Scaling Challenge: </a:t>
            </a:r>
            <a:r>
              <a:rPr sz="1350">
                <a:solidFill>
                  <a:srgbClr val="E2E8F0"/>
                </a:solidFill>
                <a:latin typeface="Arial"/>
              </a:rPr>
              <a:t>Monolithic e-commerce databases crash during flash sales when heavy analytical reporting locks live transactional checkout tables.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The Security Threat: </a:t>
            </a:r>
            <a:r>
              <a:rPr sz="1350">
                <a:solidFill>
                  <a:srgbClr val="E2E8F0"/>
                </a:solidFill>
                <a:latin typeface="Arial"/>
              </a:rPr>
              <a:t>Automated scraping bots and cookie-clearing session attacks corrupt analytical data lakehouses and drain infrastructure resources.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785616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Our Architectural Solution: </a:t>
            </a:r>
            <a:r>
              <a:rPr sz="1350">
                <a:solidFill>
                  <a:srgbClr val="E2E8F0"/>
                </a:solidFill>
                <a:latin typeface="Arial"/>
              </a:rPr>
              <a:t>RetailHub decouples transactional writes (MySQL) from asynchronous event streaming (Kafka) and real-time AI security scanning (PySpark FraudGuard).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85616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92624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Core Business Objective: </a:t>
            </a:r>
            <a:r>
              <a:rPr sz="1350">
                <a:solidFill>
                  <a:srgbClr val="E2E8F0"/>
                </a:solidFill>
                <a:latin typeface="Arial"/>
              </a:rPr>
              <a:t>Deliver sub-second checkout response times while organizing raw telemetry into a 5-tier S3 Medallion Lakehouse for serverless BI.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92624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0B2337"/>
          </a:solidFill>
          <a:ln w="19050"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0"/>
              </a:spcAft>
              <a:defRPr sz="4600" b="1">
                <a:solidFill>
                  <a:srgbClr val="38E6C5"/>
                </a:solidFill>
              </a:defRPr>
            </a:pPr>
            <a:r>
              <a:t>ASHWIN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FFB020"/>
                </a:solidFill>
              </a:defRPr>
            </a:pPr>
            <a:r>
              <a:t>RetailHub Web Application Architecture</a:t>
            </a:r>
          </a:p>
          <a:p>
            <a:pPr algn="ctr">
              <a:defRPr sz="1500">
                <a:solidFill>
                  <a:srgbClr val="E2E8F0"/>
                </a:solidFill>
              </a:defRPr>
            </a:pPr>
            <a:r>
              <a:t>React 18 Frontend • Express Node.js Backend • Admin Security Ops Center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E6C5"/>
                </a:solidFill>
                <a:latin typeface="Arial"/>
              </a:defRPr>
            </a:pPr>
            <a:r>
              <a:t>RetailHub Web Platform &amp; Security Ops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468880" cy="411480"/>
          </a:xfrm>
          <a:prstGeom prst="roundRect">
            <a:avLst/>
          </a:prstGeom>
          <a:solidFill>
            <a:srgbClr val="231E14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020"/>
                </a:solidFill>
                <a:latin typeface="Arial"/>
              </a:defRPr>
            </a:pPr>
            <a:r>
              <a:t>ASHWIN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18288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AEC0"/>
                </a:solidFill>
                <a:latin typeface="Arial"/>
              </a:defRPr>
            </a:pPr>
            <a:r>
              <a:t>NEXDAY: BRAND NEW DAY, BRAND NEW PRODUCTS — DATA LAKEHOUSE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Customer E-Commerce Experience: </a:t>
            </a:r>
            <a:r>
              <a:rPr sz="1350">
                <a:solidFill>
                  <a:srgbClr val="E2E8F0"/>
                </a:solidFill>
                <a:latin typeface="Arial"/>
              </a:rPr>
              <a:t>Single-page React 18 frontend supporting product catalog browsing (1,000 items), cart management, and single-click checkout.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Asynchronous Telemetry Emitter: </a:t>
            </a:r>
            <a:r>
              <a:rPr sz="1350">
                <a:solidFill>
                  <a:srgbClr val="E2E8F0"/>
                </a:solidFill>
                <a:latin typeface="Arial"/>
              </a:rPr>
              <a:t>Express Node.js REST API backend writes operational records to RDS MySQL while emitting JSON telemetry to Kafka with zero checkout latency.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785616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Admin Security Ops Center: </a:t>
            </a:r>
            <a:r>
              <a:rPr sz="1350">
                <a:solidFill>
                  <a:srgbClr val="E2E8F0"/>
                </a:solidFill>
                <a:latin typeface="Arial"/>
              </a:rPr>
              <a:t>Real-time management portal displaying 5 live KPI cards, interactive threat trend charts, incident queues, and ban management.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85616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92624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Dynamic Security Enforcement: </a:t>
            </a:r>
            <a:r>
              <a:rPr sz="1350">
                <a:solidFill>
                  <a:srgbClr val="E2E8F0"/>
                </a:solidFill>
                <a:latin typeface="Arial"/>
              </a:rPr>
              <a:t>Automatically routes flagged users to step-up 6-digit OTP challenges or 24-hour account restriction timers.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92624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0B2337"/>
          </a:solidFill>
          <a:ln w="19050"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0"/>
              </a:spcAft>
              <a:defRPr sz="4600" b="1">
                <a:solidFill>
                  <a:srgbClr val="38E6C5"/>
                </a:solidFill>
              </a:defRPr>
            </a:pPr>
            <a:r>
              <a:t>NAVEEN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FFB020"/>
                </a:solidFill>
              </a:defRPr>
            </a:pPr>
            <a:r>
              <a:t>Docker Containerization &amp; Kafka Event Streaming</a:t>
            </a:r>
          </a:p>
          <a:p>
            <a:pPr algn="ctr">
              <a:defRPr sz="1500">
                <a:solidFill>
                  <a:srgbClr val="E2E8F0"/>
                </a:solidFill>
              </a:defRPr>
            </a:pPr>
            <a:r>
              <a:t>Multi-Stage Docker Builds • Kafka KRaft Raft Mode • 16 Telemetry Topics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E6C5"/>
                </a:solidFill>
                <a:latin typeface="Arial"/>
              </a:defRPr>
            </a:pPr>
            <a:r>
              <a:t>Container Infrastructure &amp; KRaft Streaming Ingestion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468880" cy="411480"/>
          </a:xfrm>
          <a:prstGeom prst="roundRect">
            <a:avLst/>
          </a:prstGeom>
          <a:solidFill>
            <a:srgbClr val="231E14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020"/>
                </a:solidFill>
                <a:latin typeface="Arial"/>
              </a:defRPr>
            </a:pPr>
            <a:r>
              <a:t>NAVEEN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18288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AEC0"/>
                </a:solidFill>
                <a:latin typeface="Arial"/>
              </a:defRPr>
            </a:pPr>
            <a:r>
              <a:t>NEXDAY: BRAND NEW DAY, BRAND NEW PRODUCTS — DATA LAKEHOUSE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Multi-Stage Docker Builds: </a:t>
            </a:r>
            <a:r>
              <a:rPr sz="1350">
                <a:solidFill>
                  <a:srgbClr val="E2E8F0"/>
                </a:solidFill>
                <a:latin typeface="Arial"/>
              </a:rPr>
              <a:t>Node.js 20-Alpine container build separating React compilation from backend execution, reducing image size by &gt;60%.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Kafka KRaft Mode (No ZooKeeper): </a:t>
            </a:r>
            <a:r>
              <a:rPr sz="1350">
                <a:solidFill>
                  <a:srgbClr val="E2E8F0"/>
                </a:solidFill>
                <a:latin typeface="Arial"/>
              </a:rPr>
              <a:t>Single-node broker utilizing Kafka Raft Metadata consensus for ultra-low latency cluster metadata management.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785616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16 Dedicated Telemetry Topics: </a:t>
            </a:r>
            <a:r>
              <a:rPr sz="1350">
                <a:solidFill>
                  <a:srgbClr val="E2E8F0"/>
                </a:solidFill>
                <a:latin typeface="Arial"/>
              </a:rPr>
              <a:t>Ingests retail_order_events, retail_user_events, retail_cart_events, and admin audit streams with zero data loss.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85616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92624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Automated Topic Provisioning: </a:t>
            </a:r>
            <a:r>
              <a:rPr sz="1350">
                <a:solidFill>
                  <a:srgbClr val="E2E8F0"/>
                </a:solidFill>
                <a:latin typeface="Arial"/>
              </a:rPr>
              <a:t>Sidecar container (kafka-init) idempotently creates and validates all streaming topic partitions upon startup.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92624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0B2337"/>
          </a:solidFill>
          <a:ln w="19050"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0"/>
              </a:spcAft>
              <a:defRPr sz="4600" b="1">
                <a:solidFill>
                  <a:srgbClr val="38E6C5"/>
                </a:solidFill>
              </a:defRPr>
            </a:pPr>
            <a:r>
              <a:t>PRITHVISH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FFB020"/>
                </a:solidFill>
              </a:defRPr>
            </a:pPr>
            <a:r>
              <a:t>Streaming Data &amp; Real-Time Fraud Detection</a:t>
            </a:r>
          </a:p>
          <a:p>
            <a:pPr algn="ctr">
              <a:defRPr sz="1500">
                <a:solidFill>
                  <a:srgbClr val="E2E8F0"/>
                </a:solidFill>
              </a:defRPr>
            </a:pPr>
            <a:r>
              <a:t>PySpark Structured Streaming • 10s Sliding Windows • S3 Fraud Vault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E6C5"/>
                </a:solidFill>
                <a:latin typeface="Arial"/>
              </a:defRPr>
            </a:pPr>
            <a:r>
              <a:t>PySpark Real-Time AI Security &amp; Fraud Vault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468880" cy="411480"/>
          </a:xfrm>
          <a:prstGeom prst="roundRect">
            <a:avLst/>
          </a:prstGeom>
          <a:solidFill>
            <a:srgbClr val="231E14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020"/>
                </a:solidFill>
                <a:latin typeface="Arial"/>
              </a:defRPr>
            </a:pPr>
            <a:r>
              <a:t>PRITHVISH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18288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AEC0"/>
                </a:solidFill>
                <a:latin typeface="Arial"/>
              </a:defRPr>
            </a:pPr>
            <a:r>
              <a:t>NEXDAY: BRAND NEW DAY, BRAND NEW PRODUCTS — DATA LAKEHOUSE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PySpark Structured Streaming: </a:t>
            </a:r>
            <a:r>
              <a:rPr sz="1350">
                <a:solidFill>
                  <a:srgbClr val="E2E8F0"/>
                </a:solidFill>
                <a:latin typeface="Arial"/>
              </a:rPr>
              <a:t>Evaluates sub-second Kafka micro-batches against 15 deterministic fraud rules + Gemini AI context analysis.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Rule 1 - DDoS Rate Limiting: </a:t>
            </a:r>
            <a:r>
              <a:rPr sz="1350">
                <a:solidFill>
                  <a:srgbClr val="E2E8F0"/>
                </a:solidFill>
                <a:latin typeface="Arial"/>
              </a:rPr>
              <a:t>10-second sliding windows flag any IP address generating &gt; 30 click events within 10 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785616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Rule 2 - Cookie Rotation Defense: </a:t>
            </a:r>
            <a:r>
              <a:rPr sz="1350">
                <a:solidFill>
                  <a:srgbClr val="E2E8F0"/>
                </a:solidFill>
                <a:latin typeface="Arial"/>
              </a:rPr>
              <a:t>10-second sliding windows evaluate approx_count_distinct(session_id) to flag IPs switching &gt; 3 session tokens.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85616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92624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S3 Quarantine Fraud Vault: </a:t>
            </a:r>
            <a:r>
              <a:rPr sz="1350">
                <a:solidFill>
                  <a:srgbClr val="E2E8F0"/>
                </a:solidFill>
                <a:latin typeface="Arial"/>
              </a:rPr>
              <a:t>PySpark routes all malicious bot traffic directly to s3://retailhub-quarantine-*/ for serverless Athena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92624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0B2337"/>
          </a:solidFill>
          <a:ln w="19050"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0"/>
              </a:spcAft>
              <a:defRPr sz="4600" b="1">
                <a:solidFill>
                  <a:srgbClr val="38E6C5"/>
                </a:solidFill>
              </a:defRPr>
            </a:pPr>
            <a:r>
              <a:t>MANISH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FFB020"/>
                </a:solidFill>
              </a:defRPr>
            </a:pPr>
            <a:r>
              <a:t>Spark Batch Processing &amp; File Format Strategy</a:t>
            </a:r>
          </a:p>
          <a:p>
            <a:pPr algn="ctr">
              <a:defRPr sz="1500">
                <a:solidFill>
                  <a:srgbClr val="E2E8F0"/>
                </a:solidFill>
              </a:defRPr>
            </a:pPr>
            <a:r>
              <a:t>Bronze JSON • Silver Parquet • Gold Star Schema Dimensions &amp; Facts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E6C5"/>
                </a:solidFill>
                <a:latin typeface="Arial"/>
              </a:defRPr>
            </a:pPr>
            <a:r>
              <a:t>Medallion Lakehouse Tiers &amp; Parquet Columnar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468880" cy="411480"/>
          </a:xfrm>
          <a:prstGeom prst="roundRect">
            <a:avLst/>
          </a:prstGeom>
          <a:solidFill>
            <a:srgbClr val="231E14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020"/>
                </a:solidFill>
                <a:latin typeface="Arial"/>
              </a:defRPr>
            </a:pPr>
            <a:r>
              <a:t>MANISH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18288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AEC0"/>
                </a:solidFill>
                <a:latin typeface="Arial"/>
              </a:defRPr>
            </a:pPr>
            <a:r>
              <a:t>NEXDAY: BRAND NEW DAY, BRAND NEW PRODUCTS — DATA LAKEHOUSE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5-Tier S3 Storage Strategy: </a:t>
            </a:r>
            <a:r>
              <a:rPr sz="1350">
                <a:solidFill>
                  <a:srgbClr val="E2E8F0"/>
                </a:solidFill>
                <a:latin typeface="Arial"/>
              </a:rPr>
              <a:t>Bronze (Raw JSON), Silver (Cleaned Parquet), Gold (Star Schema), Quarantine (Fraud Vault), and Checkpoints.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Parquet Columnar Format: </a:t>
            </a:r>
            <a:r>
              <a:rPr sz="1350">
                <a:solidFill>
                  <a:srgbClr val="E2E8F0"/>
                </a:solidFill>
                <a:latin typeface="Arial"/>
              </a:rPr>
              <a:t>Binary format with Snappy compression enabling dictionary encoding, projection pushdown, and 80% lower Athena query costs.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785616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Gold Layer Star Schema: </a:t>
            </a:r>
            <a:r>
              <a:rPr sz="1350">
                <a:solidFill>
                  <a:srgbClr val="E2E8F0"/>
                </a:solidFill>
                <a:latin typeface="Arial"/>
              </a:rPr>
              <a:t>Fact tables (fact_orders, fact_product_interactions, fact_payments) and Dimensions (dim_customer, dim_product, dim_date).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85616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92624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Schema Validation: </a:t>
            </a:r>
            <a:r>
              <a:rPr sz="1350">
                <a:solidFill>
                  <a:srgbClr val="E2E8F0"/>
                </a:solidFill>
                <a:latin typeface="Arial"/>
              </a:rPr>
              <a:t>PySpark jobs enforce strict type casting, timestamp conversion, and null-safety before writing to Silver Parquet.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92624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0B2337"/>
          </a:solidFill>
          <a:ln w="19050"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0"/>
              </a:spcAft>
              <a:defRPr sz="4600" b="1">
                <a:solidFill>
                  <a:srgbClr val="38E6C5"/>
                </a:solidFill>
              </a:defRPr>
            </a:pPr>
            <a:r>
              <a:t>PRITHVISH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FFB020"/>
                </a:solidFill>
              </a:defRPr>
            </a:pPr>
            <a:r>
              <a:t>Apache Airflow 3.1.0 Orchestration</a:t>
            </a:r>
          </a:p>
          <a:p>
            <a:pPr algn="ctr">
              <a:defRPr sz="1500">
                <a:solidFill>
                  <a:srgbClr val="E2E8F0"/>
                </a:solidFill>
              </a:defRPr>
            </a:pPr>
            <a:r>
              <a:t>Airflow 3.1.0 DAGs • AWS SSM Remote Execution • Idempotency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E6C5"/>
                </a:solidFill>
                <a:latin typeface="Arial"/>
              </a:defRPr>
            </a:pPr>
            <a:r>
              <a:t>Apache Airflow DAG Orchestration &amp; Idempotent ETL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468880" cy="411480"/>
          </a:xfrm>
          <a:prstGeom prst="roundRect">
            <a:avLst/>
          </a:prstGeom>
          <a:solidFill>
            <a:srgbClr val="231E14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020"/>
                </a:solidFill>
                <a:latin typeface="Arial"/>
              </a:defRPr>
            </a:pPr>
            <a:r>
              <a:t>PRITHVISH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18288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AEC0"/>
                </a:solidFill>
                <a:latin typeface="Arial"/>
              </a:defRPr>
            </a:pPr>
            <a:r>
              <a:t>NEXDAY: BRAND NEW DAY, BRAND NEW PRODUCTS — DATA LAKEHOUSE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Airflow 3.1.0 Orchestration: </a:t>
            </a:r>
            <a:r>
              <a:rPr sz="1350">
                <a:solidFill>
                  <a:srgbClr val="E2E8F0"/>
                </a:solidFill>
                <a:latin typeface="Arial"/>
              </a:rPr>
              <a:t>Scheduled DAGs managing Bronze-&gt;Silver (every 10m) and Silver-&gt;Gold (every 15m) batch ETL transformations.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AWS SSM Operator Integration: </a:t>
            </a:r>
            <a:r>
              <a:rPr sz="1350">
                <a:solidFill>
                  <a:srgbClr val="E2E8F0"/>
                </a:solidFill>
                <a:latin typeface="Arial"/>
              </a:rPr>
              <a:t>Triggers Spark batch execution on private EC2 instances securely without opening inbound port 22.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785616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Idempotency Guarantees: </a:t>
            </a:r>
            <a:r>
              <a:rPr sz="1350">
                <a:solidFill>
                  <a:srgbClr val="E2E8F0"/>
                </a:solidFill>
                <a:latin typeface="Arial"/>
              </a:rPr>
              <a:t>Overwrites target date partitions (year/month/day/hour) to eliminate duplicate records during DAG retries.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85616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92624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Automated Retries &amp; Alerting: </a:t>
            </a:r>
            <a:r>
              <a:rPr sz="1350">
                <a:solidFill>
                  <a:srgbClr val="E2E8F0"/>
                </a:solidFill>
                <a:latin typeface="Arial"/>
              </a:rPr>
              <a:t>Manages task dependencies, SLA alerts, and pipeline retries seamlessly.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92624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0B2337"/>
          </a:solidFill>
          <a:ln w="19050"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0"/>
              </a:spcAft>
              <a:defRPr sz="4600" b="1">
                <a:solidFill>
                  <a:srgbClr val="38E6C5"/>
                </a:solidFill>
              </a:defRPr>
            </a:pPr>
            <a:r>
              <a:t>NAVEEN / MANISH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FFB020"/>
                </a:solidFill>
              </a:defRPr>
            </a:pPr>
            <a:r>
              <a:t>AWS Cloud Architecture &amp; 5 EC2 Deployment</a:t>
            </a:r>
          </a:p>
          <a:p>
            <a:pPr algn="ctr">
              <a:defRPr sz="1500">
                <a:solidFill>
                  <a:srgbClr val="E2E8F0"/>
                </a:solidFill>
              </a:defRPr>
            </a:pPr>
            <a:r>
              <a:t>VPC • Subnets • 5 Dedicated EC2 Nodes • RDS MySQL • S3 Data Lakehouse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E6C5"/>
                </a:solidFill>
                <a:latin typeface="Arial"/>
              </a:defRPr>
            </a:pPr>
            <a:r>
              <a:t>RetailHub AWS Deployment (5 Dedicated EC2 Instances)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09728"/>
            <a:ext cx="2468880" cy="365760"/>
          </a:xfrm>
          <a:prstGeom prst="roundRect">
            <a:avLst/>
          </a:prstGeom>
          <a:solidFill>
            <a:srgbClr val="231E14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020"/>
                </a:solidFill>
                <a:latin typeface="Arial"/>
              </a:defRPr>
            </a:pPr>
            <a:r>
              <a:t>NAVEEN / MANISH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4360"/>
            <a:ext cx="11460175" cy="18288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ws_5_ec2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58368"/>
            <a:ext cx="1146017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0B2337"/>
          </a:solidFill>
          <a:ln w="19050"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0"/>
              </a:spcAft>
              <a:defRPr sz="4600" b="1">
                <a:solidFill>
                  <a:srgbClr val="38E6C5"/>
                </a:solidFill>
              </a:defRPr>
            </a:pPr>
            <a:r>
              <a:t>NAVEEN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FFB020"/>
                </a:solidFill>
              </a:defRPr>
            </a:pPr>
            <a:r>
              <a:t>100% Terraform Infrastructure as Code (IaC)</a:t>
            </a:r>
          </a:p>
          <a:p>
            <a:pPr algn="ctr">
              <a:defRPr sz="1500">
                <a:solidFill>
                  <a:srgbClr val="E2E8F0"/>
                </a:solidFill>
              </a:defRPr>
            </a:pPr>
            <a:r>
              <a:t>Automated AWS Provisioning • VPC • Subnets • EC2 • RDS • S3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E6C5"/>
                </a:solidFill>
                <a:latin typeface="Arial"/>
              </a:defRPr>
            </a:pPr>
            <a:r>
              <a:t>Automated Cloud Deployment via Terraform IaC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468880" cy="411480"/>
          </a:xfrm>
          <a:prstGeom prst="roundRect">
            <a:avLst/>
          </a:prstGeom>
          <a:solidFill>
            <a:srgbClr val="231E14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020"/>
                </a:solidFill>
                <a:latin typeface="Arial"/>
              </a:defRPr>
            </a:pPr>
            <a:r>
              <a:t>NAVEEN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18288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AEC0"/>
                </a:solidFill>
                <a:latin typeface="Arial"/>
              </a:defRPr>
            </a:pPr>
            <a:r>
              <a:t>NEXDAY: BRAND NEW DAY, BRAND NEW PRODUCTS — DATA LAKEHOUSE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100% Infrastructure as Code: </a:t>
            </a:r>
            <a:r>
              <a:rPr sz="1350">
                <a:solidFill>
                  <a:srgbClr val="E2E8F0"/>
                </a:solidFill>
                <a:latin typeface="Arial"/>
              </a:rPr>
              <a:t>Modular Terraform scripts provisioning all cloud infrastructure with a single terraform apply command.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Network Isolation: </a:t>
            </a:r>
            <a:r>
              <a:rPr sz="1350">
                <a:solidFill>
                  <a:srgbClr val="E2E8F0"/>
                </a:solidFill>
                <a:latin typeface="Arial"/>
              </a:rPr>
              <a:t>Provisions AWS VPC (10.0.0.0/16), multi-AZ public subnets for ALB, and private subnets for EC2 and RDS MySQL.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785616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Automated Resource Provisioning: </a:t>
            </a:r>
            <a:r>
              <a:rPr sz="1350">
                <a:solidFill>
                  <a:srgbClr val="E2E8F0"/>
                </a:solidFill>
                <a:latin typeface="Arial"/>
              </a:rPr>
              <a:t>Creates 5 S3 buckets, RDS MySQL instance, EC2 cluster nodes, NAT Gateways, and Security Groups.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85616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92624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Zero Manual Console Setup: </a:t>
            </a:r>
            <a:r>
              <a:rPr sz="1350">
                <a:solidFill>
                  <a:srgbClr val="E2E8F0"/>
                </a:solidFill>
                <a:latin typeface="Arial"/>
              </a:rPr>
              <a:t>Bootstraps Docker runtimes and environment configs automatically upon deployment.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92624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0B2337"/>
          </a:solidFill>
          <a:ln w="19050"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0"/>
              </a:spcAft>
              <a:defRPr sz="4600" b="1">
                <a:solidFill>
                  <a:srgbClr val="38E6C5"/>
                </a:solidFill>
              </a:defRPr>
            </a:pPr>
            <a:r>
              <a:t>ASHWIN / NAVEEN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FFB020"/>
                </a:solidFill>
              </a:defRPr>
            </a:pPr>
            <a:r>
              <a:t>Live System Demonstration</a:t>
            </a:r>
          </a:p>
          <a:p>
            <a:pPr algn="ctr">
              <a:defRPr sz="1500">
                <a:solidFill>
                  <a:srgbClr val="E2E8F0"/>
                </a:solidFill>
              </a:defRPr>
            </a:pPr>
            <a:r>
              <a:t>End-to-End Walkthrough • Storefront • Kafka Streaming • Fraud Detection • Code Deep Dive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E6C5"/>
                </a:solidFill>
                <a:latin typeface="Arial"/>
              </a:defRPr>
            </a:pPr>
            <a:r>
              <a:t>Live System Demonstration &amp; Code Deep Dive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468880" cy="411480"/>
          </a:xfrm>
          <a:prstGeom prst="roundRect">
            <a:avLst/>
          </a:prstGeom>
          <a:solidFill>
            <a:srgbClr val="231E14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020"/>
                </a:solidFill>
                <a:latin typeface="Arial"/>
              </a:defRPr>
            </a:pPr>
            <a:r>
              <a:t>ASHWIN / NAVEEN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18288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AEC0"/>
                </a:solidFill>
                <a:latin typeface="Arial"/>
              </a:defRPr>
            </a:pPr>
            <a:r>
              <a:t>NEXDAY: BRAND NEW DAY, BRAND NEW PRODUCTS — DATA LAKEHOUSE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Step 1 - Customer Shopping Journey: </a:t>
            </a:r>
            <a:r>
              <a:rPr sz="1350">
                <a:solidFill>
                  <a:srgbClr val="E2E8F0"/>
                </a:solidFill>
                <a:latin typeface="Arial"/>
              </a:rPr>
              <a:t>Live product browsing, cart addition, and single-click checkout on RetailHub storefront.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Step 2 - Asynchronous Telemetry: </a:t>
            </a:r>
            <a:r>
              <a:rPr sz="1350">
                <a:solidFill>
                  <a:srgbClr val="E2E8F0"/>
                </a:solidFill>
                <a:latin typeface="Arial"/>
              </a:rPr>
              <a:t>Verification of live event emissions to Kafka topics (retail_order_events).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785616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Step 3 - Real-Time Fraud Enforcement: </a:t>
            </a:r>
            <a:r>
              <a:rPr sz="1350">
                <a:solidFill>
                  <a:srgbClr val="E2E8F0"/>
                </a:solidFill>
                <a:latin typeface="Arial"/>
              </a:rPr>
              <a:t>Injection of bot rate spike triggering OTP step-up verification and 24h account restriction.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85616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92624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Step 4 - Technical Code Inspection: </a:t>
            </a:r>
            <a:r>
              <a:rPr sz="1350">
                <a:solidFill>
                  <a:srgbClr val="E2E8F0"/>
                </a:solidFill>
                <a:latin typeface="Arial"/>
              </a:rPr>
              <a:t>Live walkthrough of React, Node.js API, PySpark streaming rules, Airflow DAGs, and Docker compose files.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92624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0B2337"/>
          </a:solidFill>
          <a:ln w="19050"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0"/>
              </a:spcAft>
              <a:defRPr sz="4600" b="1">
                <a:solidFill>
                  <a:srgbClr val="38E6C5"/>
                </a:solidFill>
              </a:defRPr>
            </a:pPr>
            <a:r>
              <a:t>PRITHVISH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FFB020"/>
                </a:solidFill>
              </a:defRPr>
            </a:pPr>
            <a:r>
              <a:t>Project Architecture &amp; System Video Presentation</a:t>
            </a:r>
          </a:p>
          <a:p>
            <a:pPr algn="ctr">
              <a:defRPr sz="1500">
                <a:solidFill>
                  <a:srgbClr val="E2E8F0"/>
                </a:solidFill>
              </a:defRPr>
            </a:pPr>
            <a:r>
              <a:t>End-to-End Pipeline Walkthrough • Telemetry Stream • Dashboard Video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E6C5"/>
                </a:solidFill>
                <a:latin typeface="Arial"/>
              </a:defRPr>
            </a:pPr>
            <a:r>
              <a:t>Project Architecture Video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468880" cy="411480"/>
          </a:xfrm>
          <a:prstGeom prst="roundRect">
            <a:avLst/>
          </a:prstGeom>
          <a:solidFill>
            <a:srgbClr val="231E14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020"/>
                </a:solidFill>
                <a:latin typeface="Arial"/>
              </a:defRPr>
            </a:pPr>
            <a:r>
              <a:t>PRITHVISH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18288"/>
          </a:xfrm>
          <a:prstGeom prst="rect">
            <a:avLst/>
          </a:prstGeom>
          <a:solidFill>
            <a:srgbClr val="38E6C5"/>
          </a:solidFill>
          <a:ln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AEC0"/>
                </a:solidFill>
                <a:latin typeface="Arial"/>
              </a:defRPr>
            </a:pPr>
            <a:r>
              <a:t>NEXDAY: BRAND NEW DAY, BRAND NEW PRODUCTS — DATA LAKEHOUSE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System Video Overview: </a:t>
            </a:r>
            <a:r>
              <a:rPr sz="1350">
                <a:solidFill>
                  <a:srgbClr val="E2E8F0"/>
                </a:solidFill>
                <a:latin typeface="Arial"/>
              </a:rPr>
              <a:t>Comprehensive video presentation covering end-to-end telemetry flow from web clickstream to S3 Lakehouse.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Live Telemetry Capture: </a:t>
            </a:r>
            <a:r>
              <a:rPr sz="1350">
                <a:solidFill>
                  <a:srgbClr val="E2E8F0"/>
                </a:solidFill>
                <a:latin typeface="Arial"/>
              </a:rPr>
              <a:t>Demonstrating asynchronous JSON emissions passing through Kafka topics.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785616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Streaming Security Execution: </a:t>
            </a:r>
            <a:r>
              <a:rPr sz="1350">
                <a:solidFill>
                  <a:srgbClr val="E2E8F0"/>
                </a:solidFill>
                <a:latin typeface="Arial"/>
              </a:rPr>
              <a:t>Visualizing real-time PySpark sliding window evaluation and S3 Fraud Vault routing.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85616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92624"/>
            <a:ext cx="11094415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Analytics &amp; BI Rendering: </a:t>
            </a:r>
            <a:r>
              <a:rPr sz="1350">
                <a:solidFill>
                  <a:srgbClr val="E2E8F0"/>
                </a:solidFill>
                <a:latin typeface="Arial"/>
              </a:rPr>
              <a:t>Athena SQL queries and Power BI dashboard visualization.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92624"/>
            <a:ext cx="73152" cy="105156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0B2B3C"/>
          </a:solidFill>
          <a:ln w="25400">
            <a:solidFill>
              <a:srgbClr val="38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4000" b="1">
                <a:solidFill>
                  <a:srgbClr val="38E6C5"/>
                </a:solidFill>
              </a:defRPr>
            </a:pPr>
            <a:r>
              <a:t>OPEN FOR QUESTIONS &amp; DISCUSSION</a:t>
            </a:r>
          </a:p>
          <a:p>
            <a:pPr algn="ctr">
              <a:spcAft>
                <a:spcPts val="2500"/>
              </a:spcAft>
              <a:defRPr sz="2400" b="1">
                <a:solidFill>
                  <a:srgbClr val="FFB020"/>
                </a:solidFill>
              </a:defRPr>
            </a:pPr>
            <a:r>
              <a:t>NexDay: Brand New Day, Brand New Products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 are ready for Evaluator Questions &amp; Technical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